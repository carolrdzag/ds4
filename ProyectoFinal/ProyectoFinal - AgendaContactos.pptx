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ourier Prime"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Carolrdzag/ds4/tree/laboratorios/ProyectoFinal"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AutoShape 2"/>
          <p:cNvSpPr/>
          <p:nvPr/>
        </p:nvSpPr>
        <p:spPr>
          <a:xfrm rot="5400000">
            <a:off x="-3294138" y="4385494"/>
            <a:ext cx="9650362" cy="0"/>
          </a:xfrm>
          <a:prstGeom prst="line">
            <a:avLst/>
          </a:prstGeom>
          <a:ln w="95250" cap="flat">
            <a:solidFill>
              <a:srgbClr val="2D2D35"/>
            </a:solidFill>
            <a:prstDash val="solid"/>
            <a:headEnd type="none" w="sm" len="sm"/>
            <a:tailEnd type="none" w="sm" len="sm"/>
          </a:ln>
        </p:spPr>
        <p:txBody>
          <a:bodyPr/>
          <a:lstStyle/>
          <a:p>
            <a:endParaRPr lang="en-US"/>
          </a:p>
        </p:txBody>
      </p:sp>
      <p:grpSp>
        <p:nvGrpSpPr>
          <p:cNvPr id="3" name="Group 3"/>
          <p:cNvGrpSpPr/>
          <p:nvPr/>
        </p:nvGrpSpPr>
        <p:grpSpPr>
          <a:xfrm>
            <a:off x="14762002" y="-102870"/>
            <a:ext cx="4230823" cy="10389870"/>
            <a:chOff x="0" y="0"/>
            <a:chExt cx="1543416" cy="3790253"/>
          </a:xfrm>
        </p:grpSpPr>
        <p:sp>
          <p:nvSpPr>
            <p:cNvPr id="4" name="Freeform 4"/>
            <p:cNvSpPr/>
            <p:nvPr/>
          </p:nvSpPr>
          <p:spPr>
            <a:xfrm>
              <a:off x="0" y="0"/>
              <a:ext cx="1543416" cy="3790253"/>
            </a:xfrm>
            <a:custGeom>
              <a:avLst/>
              <a:gdLst/>
              <a:ahLst/>
              <a:cxnLst/>
              <a:rect l="l" t="t" r="r" b="b"/>
              <a:pathLst>
                <a:path w="1543416" h="3790253">
                  <a:moveTo>
                    <a:pt x="0" y="0"/>
                  </a:moveTo>
                  <a:lnTo>
                    <a:pt x="1543416" y="0"/>
                  </a:lnTo>
                  <a:lnTo>
                    <a:pt x="1543416" y="3790253"/>
                  </a:lnTo>
                  <a:lnTo>
                    <a:pt x="0" y="3790253"/>
                  </a:lnTo>
                  <a:close/>
                </a:path>
              </a:pathLst>
            </a:custGeom>
            <a:solidFill>
              <a:srgbClr val="2D2D35"/>
            </a:solidFill>
          </p:spPr>
          <p:txBody>
            <a:bodyPr/>
            <a:lstStyle/>
            <a:p>
              <a:endParaRPr lang="en-US"/>
            </a:p>
          </p:txBody>
        </p:sp>
      </p:grpSp>
      <p:sp>
        <p:nvSpPr>
          <p:cNvPr id="5" name="AutoShape 5"/>
          <p:cNvSpPr/>
          <p:nvPr/>
        </p:nvSpPr>
        <p:spPr>
          <a:xfrm>
            <a:off x="14666595" y="9210675"/>
            <a:ext cx="1539000" cy="0"/>
          </a:xfrm>
          <a:prstGeom prst="line">
            <a:avLst/>
          </a:prstGeom>
          <a:ln w="47625" cap="flat">
            <a:solidFill>
              <a:srgbClr val="FFFFFF"/>
            </a:solidFill>
            <a:prstDash val="solid"/>
            <a:headEnd type="diamond" w="lg" len="lg"/>
            <a:tailEnd type="arrow" w="med" len="sm"/>
          </a:ln>
        </p:spPr>
        <p:txBody>
          <a:bodyPr/>
          <a:lstStyle/>
          <a:p>
            <a:endParaRPr lang="en-US"/>
          </a:p>
        </p:txBody>
      </p:sp>
      <p:sp>
        <p:nvSpPr>
          <p:cNvPr id="6" name="Freeform 6"/>
          <p:cNvSpPr/>
          <p:nvPr/>
        </p:nvSpPr>
        <p:spPr>
          <a:xfrm>
            <a:off x="13255946" y="5287152"/>
            <a:ext cx="4440688" cy="3737579"/>
          </a:xfrm>
          <a:custGeom>
            <a:avLst/>
            <a:gdLst/>
            <a:ahLst/>
            <a:cxnLst/>
            <a:rect l="l" t="t" r="r" b="b"/>
            <a:pathLst>
              <a:path w="4440688" h="3737579">
                <a:moveTo>
                  <a:pt x="0" y="0"/>
                </a:moveTo>
                <a:lnTo>
                  <a:pt x="4440687" y="0"/>
                </a:lnTo>
                <a:lnTo>
                  <a:pt x="4440687" y="3737578"/>
                </a:lnTo>
                <a:lnTo>
                  <a:pt x="0" y="3737578"/>
                </a:lnTo>
                <a:lnTo>
                  <a:pt x="0" y="0"/>
                </a:lnTo>
                <a:close/>
              </a:path>
            </a:pathLst>
          </a:custGeom>
          <a:blipFill>
            <a:blip r:embed="rId2"/>
            <a:stretch>
              <a:fillRect/>
            </a:stretch>
          </a:blipFill>
        </p:spPr>
        <p:txBody>
          <a:bodyPr/>
          <a:lstStyle/>
          <a:p>
            <a:endParaRPr lang="en-US"/>
          </a:p>
        </p:txBody>
      </p:sp>
      <p:sp>
        <p:nvSpPr>
          <p:cNvPr id="7" name="TextBox 7"/>
          <p:cNvSpPr txBox="1"/>
          <p:nvPr/>
        </p:nvSpPr>
        <p:spPr>
          <a:xfrm>
            <a:off x="2537186" y="2676000"/>
            <a:ext cx="11224086" cy="2259110"/>
          </a:xfrm>
          <a:prstGeom prst="rect">
            <a:avLst/>
          </a:prstGeom>
        </p:spPr>
        <p:txBody>
          <a:bodyPr lIns="0" tIns="0" rIns="0" bIns="0" rtlCol="0" anchor="t">
            <a:spAutoFit/>
          </a:bodyPr>
          <a:lstStyle/>
          <a:p>
            <a:pPr algn="l">
              <a:lnSpc>
                <a:spcPts val="8802"/>
              </a:lnSpc>
            </a:pPr>
            <a:r>
              <a:rPr lang="en-US" sz="7721">
                <a:solidFill>
                  <a:srgbClr val="FFFFFF"/>
                </a:solidFill>
                <a:latin typeface="Courier Prime"/>
                <a:ea typeface="Courier Prime"/>
                <a:cs typeface="Courier Prime"/>
                <a:sym typeface="Courier Prime"/>
              </a:rPr>
              <a:t>Proyecto Final - Agenda de Contactos </a:t>
            </a:r>
          </a:p>
        </p:txBody>
      </p:sp>
      <p:sp>
        <p:nvSpPr>
          <p:cNvPr id="8" name="TextBox 8"/>
          <p:cNvSpPr txBox="1"/>
          <p:nvPr/>
        </p:nvSpPr>
        <p:spPr>
          <a:xfrm>
            <a:off x="2415791" y="7091193"/>
            <a:ext cx="2471972" cy="1607392"/>
          </a:xfrm>
          <a:prstGeom prst="rect">
            <a:avLst/>
          </a:prstGeom>
        </p:spPr>
        <p:txBody>
          <a:bodyPr lIns="0" tIns="0" rIns="0" bIns="0" rtlCol="0" anchor="t">
            <a:spAutoFit/>
          </a:bodyPr>
          <a:lstStyle/>
          <a:p>
            <a:pPr algn="l">
              <a:lnSpc>
                <a:spcPts val="12477"/>
              </a:lnSpc>
            </a:pPr>
            <a:r>
              <a:rPr lang="en-US" sz="10944">
                <a:solidFill>
                  <a:srgbClr val="FFFFFF"/>
                </a:solidFill>
                <a:latin typeface="Courier Prime"/>
                <a:ea typeface="Courier Prime"/>
                <a:cs typeface="Courier Prime"/>
                <a:sym typeface="Courier Prime"/>
              </a:rPr>
              <a:t>}</a:t>
            </a:r>
          </a:p>
        </p:txBody>
      </p:sp>
      <p:sp>
        <p:nvSpPr>
          <p:cNvPr id="9" name="TextBox 9"/>
          <p:cNvSpPr txBox="1"/>
          <p:nvPr/>
        </p:nvSpPr>
        <p:spPr>
          <a:xfrm>
            <a:off x="2278912" y="5828968"/>
            <a:ext cx="10747189" cy="505830"/>
          </a:xfrm>
          <a:prstGeom prst="rect">
            <a:avLst/>
          </a:prstGeom>
        </p:spPr>
        <p:txBody>
          <a:bodyPr lIns="0" tIns="0" rIns="0" bIns="0" rtlCol="0" anchor="t">
            <a:spAutoFit/>
          </a:bodyPr>
          <a:lstStyle/>
          <a:p>
            <a:pPr algn="l">
              <a:lnSpc>
                <a:spcPts val="4144"/>
              </a:lnSpc>
            </a:pPr>
            <a:r>
              <a:rPr lang="en-US" sz="2960">
                <a:solidFill>
                  <a:srgbClr val="FF914D"/>
                </a:solidFill>
                <a:latin typeface="Courier Prime"/>
                <a:ea typeface="Courier Prime"/>
                <a:cs typeface="Courier Prime"/>
                <a:sym typeface="Courier Prime"/>
              </a:rPr>
              <a:t>&lt;Por=Rodríguez, Carolina (8-963-2307)"/&gt;</a:t>
            </a:r>
          </a:p>
        </p:txBody>
      </p:sp>
      <p:sp>
        <p:nvSpPr>
          <p:cNvPr id="10" name="TextBox 10"/>
          <p:cNvSpPr txBox="1"/>
          <p:nvPr/>
        </p:nvSpPr>
        <p:spPr>
          <a:xfrm>
            <a:off x="2194891" y="1687047"/>
            <a:ext cx="11259224" cy="474154"/>
          </a:xfrm>
          <a:prstGeom prst="rect">
            <a:avLst/>
          </a:prstGeom>
        </p:spPr>
        <p:txBody>
          <a:bodyPr lIns="0" tIns="0" rIns="0" bIns="0" rtlCol="0" anchor="t">
            <a:spAutoFit/>
          </a:bodyPr>
          <a:lstStyle/>
          <a:p>
            <a:pPr algn="l">
              <a:lnSpc>
                <a:spcPts val="3830"/>
              </a:lnSpc>
            </a:pPr>
            <a:r>
              <a:rPr lang="en-US" sz="2736">
                <a:solidFill>
                  <a:srgbClr val="8F8F8F"/>
                </a:solidFill>
                <a:latin typeface="Courier Prime"/>
                <a:ea typeface="Courier Prime"/>
                <a:cs typeface="Courier Prime"/>
                <a:sym typeface="Courier Prime"/>
              </a:rPr>
              <a:t>&lt;!--UTP--&gt;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grpSp>
        <p:nvGrpSpPr>
          <p:cNvPr id="2" name="Group 2"/>
          <p:cNvGrpSpPr/>
          <p:nvPr/>
        </p:nvGrpSpPr>
        <p:grpSpPr>
          <a:xfrm>
            <a:off x="-170578" y="-102870"/>
            <a:ext cx="9985477" cy="10389870"/>
            <a:chOff x="0" y="0"/>
            <a:chExt cx="3642729" cy="3790253"/>
          </a:xfrm>
        </p:grpSpPr>
        <p:sp>
          <p:nvSpPr>
            <p:cNvPr id="3" name="Freeform 3"/>
            <p:cNvSpPr/>
            <p:nvPr/>
          </p:nvSpPr>
          <p:spPr>
            <a:xfrm>
              <a:off x="0" y="0"/>
              <a:ext cx="3642729" cy="3790253"/>
            </a:xfrm>
            <a:custGeom>
              <a:avLst/>
              <a:gdLst/>
              <a:ahLst/>
              <a:cxnLst/>
              <a:rect l="l" t="t" r="r" b="b"/>
              <a:pathLst>
                <a:path w="3642729" h="3790253">
                  <a:moveTo>
                    <a:pt x="0" y="0"/>
                  </a:moveTo>
                  <a:lnTo>
                    <a:pt x="3642729" y="0"/>
                  </a:lnTo>
                  <a:lnTo>
                    <a:pt x="3642729" y="3790253"/>
                  </a:lnTo>
                  <a:lnTo>
                    <a:pt x="0" y="3790253"/>
                  </a:lnTo>
                  <a:close/>
                </a:path>
              </a:pathLst>
            </a:custGeom>
            <a:solidFill>
              <a:srgbClr val="2D2D35"/>
            </a:solidFill>
          </p:spPr>
          <p:txBody>
            <a:bodyPr/>
            <a:lstStyle/>
            <a:p>
              <a:endParaRPr lang="en-US"/>
            </a:p>
          </p:txBody>
        </p:sp>
      </p:grpSp>
      <p:sp>
        <p:nvSpPr>
          <p:cNvPr id="4" name="AutoShape 4"/>
          <p:cNvSpPr/>
          <p:nvPr/>
        </p:nvSpPr>
        <p:spPr>
          <a:xfrm rot="5400000">
            <a:off x="6783951" y="3553290"/>
            <a:ext cx="7985953" cy="0"/>
          </a:xfrm>
          <a:prstGeom prst="line">
            <a:avLst/>
          </a:prstGeom>
          <a:ln w="95250" cap="flat">
            <a:solidFill>
              <a:srgbClr val="2D2D35"/>
            </a:solidFill>
            <a:prstDash val="solid"/>
            <a:headEnd type="none" w="sm" len="sm"/>
            <a:tailEnd type="none" w="sm" len="sm"/>
          </a:ln>
        </p:spPr>
        <p:txBody>
          <a:bodyPr/>
          <a:lstStyle/>
          <a:p>
            <a:endParaRPr lang="en-US"/>
          </a:p>
        </p:txBody>
      </p:sp>
      <p:sp>
        <p:nvSpPr>
          <p:cNvPr id="5" name="Freeform 5"/>
          <p:cNvSpPr/>
          <p:nvPr/>
        </p:nvSpPr>
        <p:spPr>
          <a:xfrm>
            <a:off x="11565640" y="1812435"/>
            <a:ext cx="5815860" cy="6024197"/>
          </a:xfrm>
          <a:custGeom>
            <a:avLst/>
            <a:gdLst/>
            <a:ahLst/>
            <a:cxnLst/>
            <a:rect l="l" t="t" r="r" b="b"/>
            <a:pathLst>
              <a:path w="5815860" h="6024197">
                <a:moveTo>
                  <a:pt x="0" y="0"/>
                </a:moveTo>
                <a:lnTo>
                  <a:pt x="5815860" y="0"/>
                </a:lnTo>
                <a:lnTo>
                  <a:pt x="5815860" y="6024197"/>
                </a:lnTo>
                <a:lnTo>
                  <a:pt x="0" y="6024197"/>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028700" y="1047750"/>
            <a:ext cx="7031406"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Introducción {</a:t>
            </a:r>
          </a:p>
        </p:txBody>
      </p:sp>
      <p:sp>
        <p:nvSpPr>
          <p:cNvPr id="7" name="TextBox 7"/>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id="8" name="TextBox 8"/>
          <p:cNvSpPr txBox="1"/>
          <p:nvPr/>
        </p:nvSpPr>
        <p:spPr>
          <a:xfrm>
            <a:off x="833919" y="2218436"/>
            <a:ext cx="7964076" cy="3915664"/>
          </a:xfrm>
          <a:prstGeom prst="rect">
            <a:avLst/>
          </a:prstGeom>
        </p:spPr>
        <p:txBody>
          <a:bodyPr lIns="0" tIns="0" rIns="0" bIns="0" rtlCol="0" anchor="t">
            <a:spAutoFit/>
          </a:bodyPr>
          <a:lstStyle/>
          <a:p>
            <a:pPr algn="just">
              <a:lnSpc>
                <a:spcPts val="3128"/>
              </a:lnSpc>
            </a:pPr>
            <a:r>
              <a:rPr lang="en-US" sz="2300">
                <a:solidFill>
                  <a:srgbClr val="FFFFFF"/>
                </a:solidFill>
                <a:latin typeface="Courier Prime"/>
                <a:ea typeface="Courier Prime"/>
                <a:cs typeface="Courier Prime"/>
                <a:sym typeface="Courier Prime"/>
              </a:rPr>
              <a:t>Este proyecto consiste en una agenda digital de contactos desarrollada en ASP.NET WebForms, integrada con una API REST para gestionar la información en la base de datos.  Incluye funciones de búsqueda, edición, eliminación y generación de reportes PDF, garantizando eficiencia y trazabilidad en la gestión de datos. Su objetivo es brindar una solución práctica y segura para administrar contactos de manera profesional.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grpSp>
        <p:nvGrpSpPr>
          <p:cNvPr id="2" name="Group 2"/>
          <p:cNvGrpSpPr/>
          <p:nvPr/>
        </p:nvGrpSpPr>
        <p:grpSpPr>
          <a:xfrm>
            <a:off x="11802099" y="-102870"/>
            <a:ext cx="6656479" cy="10389870"/>
            <a:chOff x="0" y="0"/>
            <a:chExt cx="2428302" cy="3790253"/>
          </a:xfrm>
        </p:grpSpPr>
        <p:sp>
          <p:nvSpPr>
            <p:cNvPr id="3" name="Freeform 3"/>
            <p:cNvSpPr/>
            <p:nvPr/>
          </p:nvSpPr>
          <p:spPr>
            <a:xfrm>
              <a:off x="0" y="0"/>
              <a:ext cx="2428302" cy="3790253"/>
            </a:xfrm>
            <a:custGeom>
              <a:avLst/>
              <a:gdLst/>
              <a:ahLst/>
              <a:cxnLst/>
              <a:rect l="l" t="t" r="r" b="b"/>
              <a:pathLst>
                <a:path w="2428302" h="3790253">
                  <a:moveTo>
                    <a:pt x="0" y="0"/>
                  </a:moveTo>
                  <a:lnTo>
                    <a:pt x="2428302" y="0"/>
                  </a:lnTo>
                  <a:lnTo>
                    <a:pt x="2428302" y="3790253"/>
                  </a:lnTo>
                  <a:lnTo>
                    <a:pt x="0" y="3790253"/>
                  </a:lnTo>
                  <a:close/>
                </a:path>
              </a:pathLst>
            </a:custGeom>
            <a:solidFill>
              <a:srgbClr val="2D2D35"/>
            </a:solidFill>
          </p:spPr>
          <p:txBody>
            <a:bodyPr/>
            <a:lstStyle/>
            <a:p>
              <a:endParaRPr lang="en-US"/>
            </a:p>
          </p:txBody>
        </p:sp>
      </p:grpSp>
      <p:sp>
        <p:nvSpPr>
          <p:cNvPr id="4" name="Freeform 4"/>
          <p:cNvSpPr/>
          <p:nvPr/>
        </p:nvSpPr>
        <p:spPr>
          <a:xfrm>
            <a:off x="12452263" y="1180737"/>
            <a:ext cx="5086599" cy="7027254"/>
          </a:xfrm>
          <a:custGeom>
            <a:avLst/>
            <a:gdLst/>
            <a:ahLst/>
            <a:cxnLst/>
            <a:rect l="l" t="t" r="r" b="b"/>
            <a:pathLst>
              <a:path w="5086599" h="7027254">
                <a:moveTo>
                  <a:pt x="0" y="0"/>
                </a:moveTo>
                <a:lnTo>
                  <a:pt x="5086598" y="0"/>
                </a:lnTo>
                <a:lnTo>
                  <a:pt x="5086598" y="7027254"/>
                </a:lnTo>
                <a:lnTo>
                  <a:pt x="0" y="7027254"/>
                </a:lnTo>
                <a:lnTo>
                  <a:pt x="0" y="0"/>
                </a:lnTo>
                <a:close/>
              </a:path>
            </a:pathLst>
          </a:custGeom>
          <a:blipFill>
            <a:blip r:embed="rId2"/>
            <a:stretch>
              <a:fillRect l="-77093" r="-30135"/>
            </a:stretch>
          </a:blipFill>
        </p:spPr>
        <p:txBody>
          <a:bodyPr/>
          <a:lstStyle/>
          <a:p>
            <a:endParaRPr lang="en-US"/>
          </a:p>
        </p:txBody>
      </p:sp>
      <p:sp>
        <p:nvSpPr>
          <p:cNvPr id="5" name="TextBox 5"/>
          <p:cNvSpPr txBox="1"/>
          <p:nvPr/>
        </p:nvSpPr>
        <p:spPr>
          <a:xfrm>
            <a:off x="1028700" y="746760"/>
            <a:ext cx="7031406"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Aspectos Generales {</a:t>
            </a:r>
          </a:p>
        </p:txBody>
      </p:sp>
      <p:sp>
        <p:nvSpPr>
          <p:cNvPr id="6" name="TextBox 6"/>
          <p:cNvSpPr txBox="1"/>
          <p:nvPr/>
        </p:nvSpPr>
        <p:spPr>
          <a:xfrm>
            <a:off x="511115" y="1995678"/>
            <a:ext cx="10635444" cy="6961632"/>
          </a:xfrm>
          <a:prstGeom prst="rect">
            <a:avLst/>
          </a:prstGeom>
        </p:spPr>
        <p:txBody>
          <a:bodyPr lIns="0" tIns="0" rIns="0" bIns="0" rtlCol="0" anchor="t">
            <a:spAutoFit/>
          </a:bodyPr>
          <a:lstStyle/>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Agenda de Contactos:</a:t>
            </a:r>
            <a:r>
              <a:rPr lang="en-US" sz="2400">
                <a:solidFill>
                  <a:srgbClr val="FFFFFF"/>
                </a:solidFill>
                <a:latin typeface="Courier Prime"/>
                <a:ea typeface="Courier Prime"/>
                <a:cs typeface="Courier Prime"/>
                <a:sym typeface="Courier Prime"/>
              </a:rPr>
              <a:t> aplicación web desarrollada en ASP.NET WebForms para gestionar información personal.</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Integración con API REST:</a:t>
            </a:r>
            <a:r>
              <a:rPr lang="en-US" sz="2400">
                <a:solidFill>
                  <a:srgbClr val="FFFFFF"/>
                </a:solidFill>
                <a:latin typeface="Courier Prime"/>
                <a:ea typeface="Courier Prime"/>
                <a:cs typeface="Courier Prime"/>
                <a:sym typeface="Courier Prime"/>
              </a:rPr>
              <a:t> permite registrar, actualizar, eliminar y listar contactos conectados a la base de datos.</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Interfaz moderna:</a:t>
            </a:r>
            <a:r>
              <a:rPr lang="en-US" sz="2400">
                <a:solidFill>
                  <a:srgbClr val="FFFFFF"/>
                </a:solidFill>
                <a:latin typeface="Courier Prime"/>
                <a:ea typeface="Courier Prime"/>
                <a:cs typeface="Courier Prime"/>
                <a:sym typeface="Courier Prime"/>
              </a:rPr>
              <a:t> diseñada con HTML5, CSS3 y validaciones en JavaScript para ser responsiva y amigable.</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Funciones principales:</a:t>
            </a:r>
            <a:r>
              <a:rPr lang="en-US" sz="2400">
                <a:solidFill>
                  <a:srgbClr val="FFFFFF"/>
                </a:solidFill>
                <a:latin typeface="Courier Prime"/>
                <a:ea typeface="Courier Prime"/>
                <a:cs typeface="Courier Prime"/>
                <a:sym typeface="Courier Prime"/>
              </a:rPr>
              <a:t> búsqueda de contactos, edición, eliminación, limpieza de formulario y generación de reportes PDF.</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Gestión segura de datos: </a:t>
            </a:r>
            <a:r>
              <a:rPr lang="en-US" sz="2400">
                <a:solidFill>
                  <a:srgbClr val="FFFFFF"/>
                </a:solidFill>
                <a:latin typeface="Courier Prime"/>
                <a:ea typeface="Courier Prime"/>
                <a:cs typeface="Courier Prime"/>
                <a:sym typeface="Courier Prime"/>
              </a:rPr>
              <a:t>integración con base de datos mediante consultas directas o procedimientos almacenados.</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Objetivo:</a:t>
            </a:r>
            <a:r>
              <a:rPr lang="en-US" sz="2400">
                <a:solidFill>
                  <a:srgbClr val="FFFFFF"/>
                </a:solidFill>
                <a:latin typeface="Courier Prime"/>
                <a:ea typeface="Courier Prime"/>
                <a:cs typeface="Courier Prime"/>
                <a:sym typeface="Courier Prime"/>
              </a:rPr>
              <a:t> ofrecer una solución práctica, eficiente y profesional para la administración de contactos.</a:t>
            </a:r>
          </a:p>
          <a:p>
            <a:pPr algn="l">
              <a:lnSpc>
                <a:spcPts val="3264"/>
              </a:lnSpc>
            </a:pPr>
            <a:endParaRPr lang="en-US" sz="2400">
              <a:solidFill>
                <a:srgbClr val="FFFFFF"/>
              </a:solidFill>
              <a:latin typeface="Courier Prime"/>
              <a:ea typeface="Courier Prime"/>
              <a:cs typeface="Courier Prime"/>
              <a:sym typeface="Courier Prime"/>
            </a:endParaRPr>
          </a:p>
        </p:txBody>
      </p:sp>
      <p:sp>
        <p:nvSpPr>
          <p:cNvPr id="7" name="TextBox 7"/>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101"/>
        </a:solidFill>
        <a:effectLst/>
      </p:bgPr>
    </p:bg>
    <p:spTree>
      <p:nvGrpSpPr>
        <p:cNvPr id="1" name=""/>
        <p:cNvGrpSpPr/>
        <p:nvPr/>
      </p:nvGrpSpPr>
      <p:grpSpPr>
        <a:xfrm>
          <a:off x="0" y="0"/>
          <a:ext cx="0" cy="0"/>
          <a:chOff x="0" y="0"/>
          <a:chExt cx="0" cy="0"/>
        </a:xfrm>
      </p:grpSpPr>
      <p:sp>
        <p:nvSpPr>
          <p:cNvPr id="2" name="Freeform 2"/>
          <p:cNvSpPr/>
          <p:nvPr/>
        </p:nvSpPr>
        <p:spPr>
          <a:xfrm>
            <a:off x="1028700" y="2571937"/>
            <a:ext cx="16327383" cy="5143125"/>
          </a:xfrm>
          <a:custGeom>
            <a:avLst/>
            <a:gdLst/>
            <a:ahLst/>
            <a:cxnLst/>
            <a:rect l="l" t="t" r="r" b="b"/>
            <a:pathLst>
              <a:path w="16327383" h="5143125">
                <a:moveTo>
                  <a:pt x="0" y="0"/>
                </a:moveTo>
                <a:lnTo>
                  <a:pt x="16327383" y="0"/>
                </a:lnTo>
                <a:lnTo>
                  <a:pt x="16327383" y="5143126"/>
                </a:lnTo>
                <a:lnTo>
                  <a:pt x="0" y="5143126"/>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1047750"/>
            <a:ext cx="12968292"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Diagrama de Arquitectura de Alto Nivel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4119875" y="2697256"/>
            <a:ext cx="10048249" cy="4892488"/>
          </a:xfrm>
          <a:custGeom>
            <a:avLst/>
            <a:gdLst/>
            <a:ahLst/>
            <a:cxnLst/>
            <a:rect l="l" t="t" r="r" b="b"/>
            <a:pathLst>
              <a:path w="10048249" h="4892488">
                <a:moveTo>
                  <a:pt x="0" y="0"/>
                </a:moveTo>
                <a:lnTo>
                  <a:pt x="10048250" y="0"/>
                </a:lnTo>
                <a:lnTo>
                  <a:pt x="10048250" y="4892488"/>
                </a:lnTo>
                <a:lnTo>
                  <a:pt x="0" y="4892488"/>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1047750"/>
            <a:ext cx="10721353"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 Diagrama de Base de Datos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TextBox 2"/>
          <p:cNvSpPr txBox="1"/>
          <p:nvPr/>
        </p:nvSpPr>
        <p:spPr>
          <a:xfrm>
            <a:off x="1028700" y="1047750"/>
            <a:ext cx="10577589"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URL apuntando al Repositorio {</a:t>
            </a:r>
          </a:p>
        </p:txBody>
      </p:sp>
      <p:sp>
        <p:nvSpPr>
          <p:cNvPr id="3" name="TextBox 3"/>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id="7" name="CuadroTexto 6">
            <a:extLst>
              <a:ext uri="{FF2B5EF4-FFF2-40B4-BE49-F238E27FC236}">
                <a16:creationId xmlns:a16="http://schemas.microsoft.com/office/drawing/2014/main" id="{11888B22-EB02-9A4F-2950-BF7BD43AF72B}"/>
              </a:ext>
            </a:extLst>
          </p:cNvPr>
          <p:cNvSpPr txBox="1"/>
          <p:nvPr/>
        </p:nvSpPr>
        <p:spPr>
          <a:xfrm>
            <a:off x="4944836" y="4681835"/>
            <a:ext cx="8398328" cy="923330"/>
          </a:xfrm>
          <a:prstGeom prst="rect">
            <a:avLst/>
          </a:prstGeom>
          <a:noFill/>
        </p:spPr>
        <p:txBody>
          <a:bodyPr wrap="square">
            <a:spAutoFit/>
          </a:bodyPr>
          <a:lstStyle/>
          <a:p>
            <a:r>
              <a:rPr lang="es-PA" sz="5400" b="1" dirty="0">
                <a:solidFill>
                  <a:schemeClr val="bg1"/>
                </a:solidFill>
                <a:hlinkClick r:id="rId2"/>
              </a:rPr>
              <a:t>URL a repositorio en GitHub</a:t>
            </a:r>
            <a:endParaRPr lang="en-US" sz="5400"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AutoShape 2"/>
          <p:cNvSpPr/>
          <p:nvPr/>
        </p:nvSpPr>
        <p:spPr>
          <a:xfrm rot="5400000">
            <a:off x="-2839732" y="3931089"/>
            <a:ext cx="8741551" cy="0"/>
          </a:xfrm>
          <a:prstGeom prst="line">
            <a:avLst/>
          </a:prstGeom>
          <a:ln w="95250" cap="flat">
            <a:solidFill>
              <a:srgbClr val="2D2D35"/>
            </a:solidFill>
            <a:prstDash val="solid"/>
            <a:headEnd type="none" w="sm" len="sm"/>
            <a:tailEnd type="none" w="sm" len="sm"/>
          </a:ln>
        </p:spPr>
        <p:txBody>
          <a:bodyPr/>
          <a:lstStyle/>
          <a:p>
            <a:endParaRPr lang="en-US"/>
          </a:p>
        </p:txBody>
      </p:sp>
      <p:sp>
        <p:nvSpPr>
          <p:cNvPr id="3" name="TextBox 3"/>
          <p:cNvSpPr txBox="1"/>
          <p:nvPr/>
        </p:nvSpPr>
        <p:spPr>
          <a:xfrm>
            <a:off x="2537186" y="3245316"/>
            <a:ext cx="10718760" cy="1324177"/>
          </a:xfrm>
          <a:prstGeom prst="rect">
            <a:avLst/>
          </a:prstGeom>
        </p:spPr>
        <p:txBody>
          <a:bodyPr lIns="0" tIns="0" rIns="0" bIns="0" rtlCol="0" anchor="t">
            <a:spAutoFit/>
          </a:bodyPr>
          <a:lstStyle/>
          <a:p>
            <a:pPr algn="l">
              <a:lnSpc>
                <a:spcPts val="10397"/>
              </a:lnSpc>
            </a:pPr>
            <a:r>
              <a:rPr lang="en-US" sz="9120">
                <a:solidFill>
                  <a:srgbClr val="FFFFFF"/>
                </a:solidFill>
                <a:latin typeface="Courier Prime"/>
                <a:ea typeface="Courier Prime"/>
                <a:cs typeface="Courier Prime"/>
                <a:sym typeface="Courier Prime"/>
              </a:rPr>
              <a:t>Gracias {</a:t>
            </a:r>
          </a:p>
        </p:txBody>
      </p:sp>
      <p:sp>
        <p:nvSpPr>
          <p:cNvPr id="4" name="TextBox 4"/>
          <p:cNvSpPr txBox="1"/>
          <p:nvPr/>
        </p:nvSpPr>
        <p:spPr>
          <a:xfrm>
            <a:off x="2415791" y="6536903"/>
            <a:ext cx="2471972" cy="1607392"/>
          </a:xfrm>
          <a:prstGeom prst="rect">
            <a:avLst/>
          </a:prstGeom>
        </p:spPr>
        <p:txBody>
          <a:bodyPr lIns="0" tIns="0" rIns="0" bIns="0" rtlCol="0" anchor="t">
            <a:spAutoFit/>
          </a:bodyPr>
          <a:lstStyle/>
          <a:p>
            <a:pPr algn="l">
              <a:lnSpc>
                <a:spcPts val="12477"/>
              </a:lnSpc>
            </a:pPr>
            <a:r>
              <a:rPr lang="en-US" sz="10944">
                <a:solidFill>
                  <a:srgbClr val="FFFFFF"/>
                </a:solidFill>
                <a:latin typeface="Courier Prime"/>
                <a:ea typeface="Courier Prime"/>
                <a:cs typeface="Courier Prime"/>
                <a:sym typeface="Courier Prime"/>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235</Words>
  <Application>Microsoft Office PowerPoint</Application>
  <PresentationFormat>Personalizado</PresentationFormat>
  <Paragraphs>23</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Courier Prime</vt:lpstr>
      <vt:lpstr>Calibri</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Proyecto2 - WEB API CALCULADORA</dc:title>
  <cp:lastModifiedBy>CAROLINA RODRIGUEZ</cp:lastModifiedBy>
  <cp:revision>2</cp:revision>
  <dcterms:created xsi:type="dcterms:W3CDTF">2006-08-16T00:00:00Z</dcterms:created>
  <dcterms:modified xsi:type="dcterms:W3CDTF">2025-12-15T06:25:18Z</dcterms:modified>
  <dc:identifier>DAG516UDV9U</dc:identifier>
</cp:coreProperties>
</file>