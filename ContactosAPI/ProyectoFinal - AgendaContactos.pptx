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Courier Prime" charset="1" panose="00000509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AutoShape 2" id="2"/>
          <p:cNvSpPr/>
          <p:nvPr/>
        </p:nvSpPr>
        <p:spPr>
          <a:xfrm rot="5400000">
            <a:off x="-3294138" y="4385494"/>
            <a:ext cx="9650362" cy="0"/>
          </a:xfrm>
          <a:prstGeom prst="line">
            <a:avLst/>
          </a:prstGeom>
          <a:ln cap="flat" w="95250">
            <a:solidFill>
              <a:srgbClr val="2D2D35"/>
            </a:solidFill>
            <a:prstDash val="solid"/>
            <a:headEnd type="none" len="sm" w="sm"/>
            <a:tailEnd type="none" len="sm" w="sm"/>
          </a:ln>
        </p:spPr>
      </p:sp>
      <p:grpSp>
        <p:nvGrpSpPr>
          <p:cNvPr name="Group 3" id="3"/>
          <p:cNvGrpSpPr/>
          <p:nvPr/>
        </p:nvGrpSpPr>
        <p:grpSpPr>
          <a:xfrm rot="0">
            <a:off x="14762002" y="-102870"/>
            <a:ext cx="4230823" cy="10389870"/>
            <a:chOff x="0" y="0"/>
            <a:chExt cx="1543416" cy="3790253"/>
          </a:xfrm>
        </p:grpSpPr>
        <p:sp>
          <p:nvSpPr>
            <p:cNvPr name="Freeform 4" id="4"/>
            <p:cNvSpPr/>
            <p:nvPr/>
          </p:nvSpPr>
          <p:spPr>
            <a:xfrm flipH="false" flipV="false" rot="0">
              <a:off x="0" y="0"/>
              <a:ext cx="1543416" cy="3790253"/>
            </a:xfrm>
            <a:custGeom>
              <a:avLst/>
              <a:gdLst/>
              <a:ahLst/>
              <a:cxnLst/>
              <a:rect r="r" b="b" t="t" l="l"/>
              <a:pathLst>
                <a:path h="3790253" w="1543416">
                  <a:moveTo>
                    <a:pt x="0" y="0"/>
                  </a:moveTo>
                  <a:lnTo>
                    <a:pt x="1543416" y="0"/>
                  </a:lnTo>
                  <a:lnTo>
                    <a:pt x="1543416" y="3790253"/>
                  </a:lnTo>
                  <a:lnTo>
                    <a:pt x="0" y="3790253"/>
                  </a:lnTo>
                  <a:close/>
                </a:path>
              </a:pathLst>
            </a:custGeom>
            <a:solidFill>
              <a:srgbClr val="2D2D35"/>
            </a:solidFill>
          </p:spPr>
        </p:sp>
      </p:grpSp>
      <p:sp>
        <p:nvSpPr>
          <p:cNvPr name="AutoShape 5" id="5"/>
          <p:cNvSpPr/>
          <p:nvPr/>
        </p:nvSpPr>
        <p:spPr>
          <a:xfrm rot="0">
            <a:off x="14666595" y="9210675"/>
            <a:ext cx="1539000" cy="0"/>
          </a:xfrm>
          <a:prstGeom prst="line">
            <a:avLst/>
          </a:prstGeom>
          <a:ln cap="flat" w="47625">
            <a:solidFill>
              <a:srgbClr val="FFFFFF"/>
            </a:solidFill>
            <a:prstDash val="solid"/>
            <a:headEnd type="diamond" len="lg" w="lg"/>
            <a:tailEnd type="arrow" len="sm" w="med"/>
          </a:ln>
        </p:spPr>
      </p:sp>
      <p:sp>
        <p:nvSpPr>
          <p:cNvPr name="Freeform 6" id="6"/>
          <p:cNvSpPr/>
          <p:nvPr/>
        </p:nvSpPr>
        <p:spPr>
          <a:xfrm flipH="false" flipV="false" rot="0">
            <a:off x="13255946" y="5287152"/>
            <a:ext cx="4440688" cy="3737579"/>
          </a:xfrm>
          <a:custGeom>
            <a:avLst/>
            <a:gdLst/>
            <a:ahLst/>
            <a:cxnLst/>
            <a:rect r="r" b="b" t="t" l="l"/>
            <a:pathLst>
              <a:path h="3737579" w="4440688">
                <a:moveTo>
                  <a:pt x="0" y="0"/>
                </a:moveTo>
                <a:lnTo>
                  <a:pt x="4440687" y="0"/>
                </a:lnTo>
                <a:lnTo>
                  <a:pt x="4440687" y="3737578"/>
                </a:lnTo>
                <a:lnTo>
                  <a:pt x="0" y="3737578"/>
                </a:lnTo>
                <a:lnTo>
                  <a:pt x="0" y="0"/>
                </a:lnTo>
                <a:close/>
              </a:path>
            </a:pathLst>
          </a:custGeom>
          <a:blipFill>
            <a:blip r:embed="rId2"/>
            <a:stretch>
              <a:fillRect l="0" t="0" r="0" b="0"/>
            </a:stretch>
          </a:blipFill>
        </p:spPr>
      </p:sp>
      <p:sp>
        <p:nvSpPr>
          <p:cNvPr name="TextBox 7" id="7"/>
          <p:cNvSpPr txBox="true"/>
          <p:nvPr/>
        </p:nvSpPr>
        <p:spPr>
          <a:xfrm rot="0">
            <a:off x="2537186" y="2676000"/>
            <a:ext cx="11224086" cy="2259110"/>
          </a:xfrm>
          <a:prstGeom prst="rect">
            <a:avLst/>
          </a:prstGeom>
        </p:spPr>
        <p:txBody>
          <a:bodyPr anchor="t" rtlCol="false" tIns="0" lIns="0" bIns="0" rIns="0">
            <a:spAutoFit/>
          </a:bodyPr>
          <a:lstStyle/>
          <a:p>
            <a:pPr algn="l">
              <a:lnSpc>
                <a:spcPts val="8802"/>
              </a:lnSpc>
            </a:pPr>
            <a:r>
              <a:rPr lang="en-US" sz="7721">
                <a:solidFill>
                  <a:srgbClr val="FFFFFF"/>
                </a:solidFill>
                <a:latin typeface="Courier Prime"/>
                <a:ea typeface="Courier Prime"/>
                <a:cs typeface="Courier Prime"/>
                <a:sym typeface="Courier Prime"/>
              </a:rPr>
              <a:t>Proyecto Final - Agenda de Contactos </a:t>
            </a:r>
          </a:p>
        </p:txBody>
      </p:sp>
      <p:sp>
        <p:nvSpPr>
          <p:cNvPr name="TextBox 8" id="8"/>
          <p:cNvSpPr txBox="true"/>
          <p:nvPr/>
        </p:nvSpPr>
        <p:spPr>
          <a:xfrm rot="0">
            <a:off x="2415791" y="7091193"/>
            <a:ext cx="2471972" cy="1607392"/>
          </a:xfrm>
          <a:prstGeom prst="rect">
            <a:avLst/>
          </a:prstGeom>
        </p:spPr>
        <p:txBody>
          <a:bodyPr anchor="t" rtlCol="false" tIns="0" lIns="0" bIns="0" rIns="0">
            <a:spAutoFit/>
          </a:bodyPr>
          <a:lstStyle/>
          <a:p>
            <a:pPr algn="l">
              <a:lnSpc>
                <a:spcPts val="12477"/>
              </a:lnSpc>
            </a:pPr>
            <a:r>
              <a:rPr lang="en-US" sz="10944">
                <a:solidFill>
                  <a:srgbClr val="FFFFFF"/>
                </a:solidFill>
                <a:latin typeface="Courier Prime"/>
                <a:ea typeface="Courier Prime"/>
                <a:cs typeface="Courier Prime"/>
                <a:sym typeface="Courier Prime"/>
              </a:rPr>
              <a:t>}</a:t>
            </a:r>
          </a:p>
        </p:txBody>
      </p:sp>
      <p:sp>
        <p:nvSpPr>
          <p:cNvPr name="TextBox 9" id="9"/>
          <p:cNvSpPr txBox="true"/>
          <p:nvPr/>
        </p:nvSpPr>
        <p:spPr>
          <a:xfrm rot="0">
            <a:off x="2278912" y="5828968"/>
            <a:ext cx="10747189" cy="505830"/>
          </a:xfrm>
          <a:prstGeom prst="rect">
            <a:avLst/>
          </a:prstGeom>
        </p:spPr>
        <p:txBody>
          <a:bodyPr anchor="t" rtlCol="false" tIns="0" lIns="0" bIns="0" rIns="0">
            <a:spAutoFit/>
          </a:bodyPr>
          <a:lstStyle/>
          <a:p>
            <a:pPr algn="l">
              <a:lnSpc>
                <a:spcPts val="4144"/>
              </a:lnSpc>
            </a:pPr>
            <a:r>
              <a:rPr lang="en-US" sz="2960">
                <a:solidFill>
                  <a:srgbClr val="FF914D"/>
                </a:solidFill>
                <a:latin typeface="Courier Prime"/>
                <a:ea typeface="Courier Prime"/>
                <a:cs typeface="Courier Prime"/>
                <a:sym typeface="Courier Prime"/>
              </a:rPr>
              <a:t>&lt;Por=Rodríguez, Carolina (8-963-2307)"/&gt;</a:t>
            </a:r>
          </a:p>
        </p:txBody>
      </p:sp>
      <p:sp>
        <p:nvSpPr>
          <p:cNvPr name="TextBox 10" id="10"/>
          <p:cNvSpPr txBox="true"/>
          <p:nvPr/>
        </p:nvSpPr>
        <p:spPr>
          <a:xfrm rot="0">
            <a:off x="2194891" y="1687047"/>
            <a:ext cx="11259224" cy="474154"/>
          </a:xfrm>
          <a:prstGeom prst="rect">
            <a:avLst/>
          </a:prstGeom>
        </p:spPr>
        <p:txBody>
          <a:bodyPr anchor="t" rtlCol="false" tIns="0" lIns="0" bIns="0" rIns="0">
            <a:spAutoFit/>
          </a:bodyPr>
          <a:lstStyle/>
          <a:p>
            <a:pPr algn="l">
              <a:lnSpc>
                <a:spcPts val="3830"/>
              </a:lnSpc>
            </a:pPr>
            <a:r>
              <a:rPr lang="en-US" sz="2736">
                <a:solidFill>
                  <a:srgbClr val="8F8F8F"/>
                </a:solidFill>
                <a:latin typeface="Courier Prime"/>
                <a:ea typeface="Courier Prime"/>
                <a:cs typeface="Courier Prime"/>
                <a:sym typeface="Courier Prime"/>
              </a:rPr>
              <a:t>&lt;!--UTP--&gt;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grpSp>
        <p:nvGrpSpPr>
          <p:cNvPr name="Group 2" id="2"/>
          <p:cNvGrpSpPr/>
          <p:nvPr/>
        </p:nvGrpSpPr>
        <p:grpSpPr>
          <a:xfrm rot="0">
            <a:off x="-170578" y="-102870"/>
            <a:ext cx="9985477" cy="10389870"/>
            <a:chOff x="0" y="0"/>
            <a:chExt cx="3642729" cy="3790253"/>
          </a:xfrm>
        </p:grpSpPr>
        <p:sp>
          <p:nvSpPr>
            <p:cNvPr name="Freeform 3" id="3"/>
            <p:cNvSpPr/>
            <p:nvPr/>
          </p:nvSpPr>
          <p:spPr>
            <a:xfrm flipH="false" flipV="false" rot="0">
              <a:off x="0" y="0"/>
              <a:ext cx="3642729" cy="3790253"/>
            </a:xfrm>
            <a:custGeom>
              <a:avLst/>
              <a:gdLst/>
              <a:ahLst/>
              <a:cxnLst/>
              <a:rect r="r" b="b" t="t" l="l"/>
              <a:pathLst>
                <a:path h="3790253" w="3642729">
                  <a:moveTo>
                    <a:pt x="0" y="0"/>
                  </a:moveTo>
                  <a:lnTo>
                    <a:pt x="3642729" y="0"/>
                  </a:lnTo>
                  <a:lnTo>
                    <a:pt x="3642729" y="3790253"/>
                  </a:lnTo>
                  <a:lnTo>
                    <a:pt x="0" y="3790253"/>
                  </a:lnTo>
                  <a:close/>
                </a:path>
              </a:pathLst>
            </a:custGeom>
            <a:solidFill>
              <a:srgbClr val="2D2D35"/>
            </a:solidFill>
          </p:spPr>
        </p:sp>
      </p:grpSp>
      <p:sp>
        <p:nvSpPr>
          <p:cNvPr name="AutoShape 4" id="4"/>
          <p:cNvSpPr/>
          <p:nvPr/>
        </p:nvSpPr>
        <p:spPr>
          <a:xfrm rot="5400000">
            <a:off x="6783951" y="3553290"/>
            <a:ext cx="7985953" cy="0"/>
          </a:xfrm>
          <a:prstGeom prst="line">
            <a:avLst/>
          </a:prstGeom>
          <a:ln cap="flat" w="95250">
            <a:solidFill>
              <a:srgbClr val="2D2D35"/>
            </a:solidFill>
            <a:prstDash val="solid"/>
            <a:headEnd type="none" len="sm" w="sm"/>
            <a:tailEnd type="none" len="sm" w="sm"/>
          </a:ln>
        </p:spPr>
      </p:sp>
      <p:sp>
        <p:nvSpPr>
          <p:cNvPr name="Freeform 5" id="5"/>
          <p:cNvSpPr/>
          <p:nvPr/>
        </p:nvSpPr>
        <p:spPr>
          <a:xfrm flipH="false" flipV="false" rot="0">
            <a:off x="11565640" y="1812435"/>
            <a:ext cx="5815860" cy="6024197"/>
          </a:xfrm>
          <a:custGeom>
            <a:avLst/>
            <a:gdLst/>
            <a:ahLst/>
            <a:cxnLst/>
            <a:rect r="r" b="b" t="t" l="l"/>
            <a:pathLst>
              <a:path h="6024197" w="5815860">
                <a:moveTo>
                  <a:pt x="0" y="0"/>
                </a:moveTo>
                <a:lnTo>
                  <a:pt x="5815860" y="0"/>
                </a:lnTo>
                <a:lnTo>
                  <a:pt x="5815860" y="6024197"/>
                </a:lnTo>
                <a:lnTo>
                  <a:pt x="0" y="6024197"/>
                </a:lnTo>
                <a:lnTo>
                  <a:pt x="0" y="0"/>
                </a:lnTo>
                <a:close/>
              </a:path>
            </a:pathLst>
          </a:custGeom>
          <a:blipFill>
            <a:blip r:embed="rId2"/>
            <a:stretch>
              <a:fillRect l="0" t="0" r="0" b="0"/>
            </a:stretch>
          </a:blipFill>
        </p:spPr>
      </p:sp>
      <p:sp>
        <p:nvSpPr>
          <p:cNvPr name="TextBox 6" id="6"/>
          <p:cNvSpPr txBox="true"/>
          <p:nvPr/>
        </p:nvSpPr>
        <p:spPr>
          <a:xfrm rot="0">
            <a:off x="1028700" y="1047750"/>
            <a:ext cx="7031406"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Introducción {</a:t>
            </a:r>
          </a:p>
        </p:txBody>
      </p:sp>
      <p:sp>
        <p:nvSpPr>
          <p:cNvPr name="TextBox 7" id="7"/>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name="TextBox 8" id="8"/>
          <p:cNvSpPr txBox="true"/>
          <p:nvPr/>
        </p:nvSpPr>
        <p:spPr>
          <a:xfrm rot="0">
            <a:off x="833919" y="2218436"/>
            <a:ext cx="7964076" cy="3915664"/>
          </a:xfrm>
          <a:prstGeom prst="rect">
            <a:avLst/>
          </a:prstGeom>
        </p:spPr>
        <p:txBody>
          <a:bodyPr anchor="t" rtlCol="false" tIns="0" lIns="0" bIns="0" rIns="0">
            <a:spAutoFit/>
          </a:bodyPr>
          <a:lstStyle/>
          <a:p>
            <a:pPr algn="just">
              <a:lnSpc>
                <a:spcPts val="3128"/>
              </a:lnSpc>
            </a:pPr>
            <a:r>
              <a:rPr lang="en-US" sz="2300">
                <a:solidFill>
                  <a:srgbClr val="FFFFFF"/>
                </a:solidFill>
                <a:latin typeface="Courier Prime"/>
                <a:ea typeface="Courier Prime"/>
                <a:cs typeface="Courier Prime"/>
                <a:sym typeface="Courier Prime"/>
              </a:rPr>
              <a:t>Este proyecto consiste en una agenda digital de contactos desarrollada en ASP.NET WebForms, integrada con una API REST para gestionar la información en la base de datos.  Incluye funciones de búsqueda, edición, eliminación y generación de reportes PDF, garantizando eficiencia y trazabilidad en la gestión de datos. Su objetivo es brindar una solución práctica y segura para administrar contactos de manera profesional.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grpSp>
        <p:nvGrpSpPr>
          <p:cNvPr name="Group 2" id="2"/>
          <p:cNvGrpSpPr/>
          <p:nvPr/>
        </p:nvGrpSpPr>
        <p:grpSpPr>
          <a:xfrm rot="0">
            <a:off x="11802099" y="-102870"/>
            <a:ext cx="6656479" cy="10389870"/>
            <a:chOff x="0" y="0"/>
            <a:chExt cx="2428302" cy="3790253"/>
          </a:xfrm>
        </p:grpSpPr>
        <p:sp>
          <p:nvSpPr>
            <p:cNvPr name="Freeform 3" id="3"/>
            <p:cNvSpPr/>
            <p:nvPr/>
          </p:nvSpPr>
          <p:spPr>
            <a:xfrm flipH="false" flipV="false" rot="0">
              <a:off x="0" y="0"/>
              <a:ext cx="2428302" cy="3790253"/>
            </a:xfrm>
            <a:custGeom>
              <a:avLst/>
              <a:gdLst/>
              <a:ahLst/>
              <a:cxnLst/>
              <a:rect r="r" b="b" t="t" l="l"/>
              <a:pathLst>
                <a:path h="3790253" w="2428302">
                  <a:moveTo>
                    <a:pt x="0" y="0"/>
                  </a:moveTo>
                  <a:lnTo>
                    <a:pt x="2428302" y="0"/>
                  </a:lnTo>
                  <a:lnTo>
                    <a:pt x="2428302" y="3790253"/>
                  </a:lnTo>
                  <a:lnTo>
                    <a:pt x="0" y="3790253"/>
                  </a:lnTo>
                  <a:close/>
                </a:path>
              </a:pathLst>
            </a:custGeom>
            <a:solidFill>
              <a:srgbClr val="2D2D35"/>
            </a:solidFill>
          </p:spPr>
        </p:sp>
      </p:grpSp>
      <p:sp>
        <p:nvSpPr>
          <p:cNvPr name="Freeform 4" id="4"/>
          <p:cNvSpPr/>
          <p:nvPr/>
        </p:nvSpPr>
        <p:spPr>
          <a:xfrm flipH="false" flipV="false" rot="0">
            <a:off x="12452263" y="1180737"/>
            <a:ext cx="5086599" cy="7027254"/>
          </a:xfrm>
          <a:custGeom>
            <a:avLst/>
            <a:gdLst/>
            <a:ahLst/>
            <a:cxnLst/>
            <a:rect r="r" b="b" t="t" l="l"/>
            <a:pathLst>
              <a:path h="7027254" w="5086599">
                <a:moveTo>
                  <a:pt x="0" y="0"/>
                </a:moveTo>
                <a:lnTo>
                  <a:pt x="5086598" y="0"/>
                </a:lnTo>
                <a:lnTo>
                  <a:pt x="5086598" y="7027254"/>
                </a:lnTo>
                <a:lnTo>
                  <a:pt x="0" y="7027254"/>
                </a:lnTo>
                <a:lnTo>
                  <a:pt x="0" y="0"/>
                </a:lnTo>
                <a:close/>
              </a:path>
            </a:pathLst>
          </a:custGeom>
          <a:blipFill>
            <a:blip r:embed="rId2"/>
            <a:stretch>
              <a:fillRect l="-77093" t="0" r="-30135" b="0"/>
            </a:stretch>
          </a:blipFill>
        </p:spPr>
      </p:sp>
      <p:sp>
        <p:nvSpPr>
          <p:cNvPr name="TextBox 5" id="5"/>
          <p:cNvSpPr txBox="true"/>
          <p:nvPr/>
        </p:nvSpPr>
        <p:spPr>
          <a:xfrm rot="0">
            <a:off x="1028700" y="746760"/>
            <a:ext cx="7031406"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Aspectos Generales {</a:t>
            </a:r>
          </a:p>
        </p:txBody>
      </p:sp>
      <p:sp>
        <p:nvSpPr>
          <p:cNvPr name="TextBox 6" id="6"/>
          <p:cNvSpPr txBox="true"/>
          <p:nvPr/>
        </p:nvSpPr>
        <p:spPr>
          <a:xfrm rot="0">
            <a:off x="511115" y="1995678"/>
            <a:ext cx="10635444" cy="6961632"/>
          </a:xfrm>
          <a:prstGeom prst="rect">
            <a:avLst/>
          </a:prstGeom>
        </p:spPr>
        <p:txBody>
          <a:bodyPr anchor="t" rtlCol="false" tIns="0" lIns="0" bIns="0" rIns="0">
            <a:spAutoFit/>
          </a:bodyPr>
          <a:lstStyle/>
          <a:p>
            <a:pPr algn="l" marL="518160" indent="-259080" lvl="1">
              <a:lnSpc>
                <a:spcPts val="3264"/>
              </a:lnSpc>
              <a:buFont typeface="Arial"/>
              <a:buChar char="•"/>
            </a:pPr>
            <a:r>
              <a:rPr lang="en-US" sz="2400">
                <a:solidFill>
                  <a:srgbClr val="FF914D"/>
                </a:solidFill>
                <a:latin typeface="Courier Prime"/>
                <a:ea typeface="Courier Prime"/>
                <a:cs typeface="Courier Prime"/>
                <a:sym typeface="Courier Prime"/>
              </a:rPr>
              <a:t>Agenda de Contactos:</a:t>
            </a:r>
            <a:r>
              <a:rPr lang="en-US" sz="2400">
                <a:solidFill>
                  <a:srgbClr val="FFFFFF"/>
                </a:solidFill>
                <a:latin typeface="Courier Prime"/>
                <a:ea typeface="Courier Prime"/>
                <a:cs typeface="Courier Prime"/>
                <a:sym typeface="Courier Prime"/>
              </a:rPr>
              <a:t> aplicación web desarrollada en ASP.NET WebForms para gestionar información personal.</a:t>
            </a:r>
          </a:p>
          <a:p>
            <a:pPr algn="l" marL="518160" indent="-259080" lvl="1">
              <a:lnSpc>
                <a:spcPts val="3264"/>
              </a:lnSpc>
              <a:buFont typeface="Arial"/>
              <a:buChar char="•"/>
            </a:pPr>
            <a:r>
              <a:rPr lang="en-US" sz="2400">
                <a:solidFill>
                  <a:srgbClr val="FF914D"/>
                </a:solidFill>
                <a:latin typeface="Courier Prime"/>
                <a:ea typeface="Courier Prime"/>
                <a:cs typeface="Courier Prime"/>
                <a:sym typeface="Courier Prime"/>
              </a:rPr>
              <a:t>Integración con API REST:</a:t>
            </a:r>
            <a:r>
              <a:rPr lang="en-US" sz="2400">
                <a:solidFill>
                  <a:srgbClr val="FFFFFF"/>
                </a:solidFill>
                <a:latin typeface="Courier Prime"/>
                <a:ea typeface="Courier Prime"/>
                <a:cs typeface="Courier Prime"/>
                <a:sym typeface="Courier Prime"/>
              </a:rPr>
              <a:t> permite registrar, actualizar, eliminar y listar contactos conectados a la base de datos.</a:t>
            </a:r>
          </a:p>
          <a:p>
            <a:pPr algn="l" marL="518160" indent="-259080" lvl="1">
              <a:lnSpc>
                <a:spcPts val="3264"/>
              </a:lnSpc>
              <a:buFont typeface="Arial"/>
              <a:buChar char="•"/>
            </a:pPr>
            <a:r>
              <a:rPr lang="en-US" sz="2400">
                <a:solidFill>
                  <a:srgbClr val="FF914D"/>
                </a:solidFill>
                <a:latin typeface="Courier Prime"/>
                <a:ea typeface="Courier Prime"/>
                <a:cs typeface="Courier Prime"/>
                <a:sym typeface="Courier Prime"/>
              </a:rPr>
              <a:t>Interfaz moderna:</a:t>
            </a:r>
            <a:r>
              <a:rPr lang="en-US" sz="2400">
                <a:solidFill>
                  <a:srgbClr val="FFFFFF"/>
                </a:solidFill>
                <a:latin typeface="Courier Prime"/>
                <a:ea typeface="Courier Prime"/>
                <a:cs typeface="Courier Prime"/>
                <a:sym typeface="Courier Prime"/>
              </a:rPr>
              <a:t> diseñada con HTML5, CSS3 y validaciones en JavaScript para ser responsiva y amigable.</a:t>
            </a:r>
          </a:p>
          <a:p>
            <a:pPr algn="l" marL="518160" indent="-259080" lvl="1">
              <a:lnSpc>
                <a:spcPts val="3264"/>
              </a:lnSpc>
              <a:buFont typeface="Arial"/>
              <a:buChar char="•"/>
            </a:pPr>
            <a:r>
              <a:rPr lang="en-US" sz="2400">
                <a:solidFill>
                  <a:srgbClr val="FF914D"/>
                </a:solidFill>
                <a:latin typeface="Courier Prime"/>
                <a:ea typeface="Courier Prime"/>
                <a:cs typeface="Courier Prime"/>
                <a:sym typeface="Courier Prime"/>
              </a:rPr>
              <a:t>Funciones principales:</a:t>
            </a:r>
            <a:r>
              <a:rPr lang="en-US" sz="2400">
                <a:solidFill>
                  <a:srgbClr val="FFFFFF"/>
                </a:solidFill>
                <a:latin typeface="Courier Prime"/>
                <a:ea typeface="Courier Prime"/>
                <a:cs typeface="Courier Prime"/>
                <a:sym typeface="Courier Prime"/>
              </a:rPr>
              <a:t> búsqueda de contactos, edición, eliminación, limpieza de formulario y generación de reportes PDF.</a:t>
            </a:r>
          </a:p>
          <a:p>
            <a:pPr algn="l" marL="518160" indent="-259080" lvl="1">
              <a:lnSpc>
                <a:spcPts val="3264"/>
              </a:lnSpc>
              <a:buFont typeface="Arial"/>
              <a:buChar char="•"/>
            </a:pPr>
            <a:r>
              <a:rPr lang="en-US" sz="2400">
                <a:solidFill>
                  <a:srgbClr val="FF914D"/>
                </a:solidFill>
                <a:latin typeface="Courier Prime"/>
                <a:ea typeface="Courier Prime"/>
                <a:cs typeface="Courier Prime"/>
                <a:sym typeface="Courier Prime"/>
              </a:rPr>
              <a:t>G</a:t>
            </a:r>
            <a:r>
              <a:rPr lang="en-US" sz="2400">
                <a:solidFill>
                  <a:srgbClr val="FF914D"/>
                </a:solidFill>
                <a:latin typeface="Courier Prime"/>
                <a:ea typeface="Courier Prime"/>
                <a:cs typeface="Courier Prime"/>
                <a:sym typeface="Courier Prime"/>
              </a:rPr>
              <a:t>estión segura de datos: </a:t>
            </a:r>
            <a:r>
              <a:rPr lang="en-US" sz="2400">
                <a:solidFill>
                  <a:srgbClr val="FFFFFF"/>
                </a:solidFill>
                <a:latin typeface="Courier Prime"/>
                <a:ea typeface="Courier Prime"/>
                <a:cs typeface="Courier Prime"/>
                <a:sym typeface="Courier Prime"/>
              </a:rPr>
              <a:t>integración con base de datos mediante consultas directas o procedimientos almacenados.</a:t>
            </a:r>
          </a:p>
          <a:p>
            <a:pPr algn="l" marL="518160" indent="-259080" lvl="1">
              <a:lnSpc>
                <a:spcPts val="3264"/>
              </a:lnSpc>
              <a:buFont typeface="Arial"/>
              <a:buChar char="•"/>
            </a:pPr>
            <a:r>
              <a:rPr lang="en-US" sz="2400">
                <a:solidFill>
                  <a:srgbClr val="FF914D"/>
                </a:solidFill>
                <a:latin typeface="Courier Prime"/>
                <a:ea typeface="Courier Prime"/>
                <a:cs typeface="Courier Prime"/>
                <a:sym typeface="Courier Prime"/>
              </a:rPr>
              <a:t>Objetivo:</a:t>
            </a:r>
            <a:r>
              <a:rPr lang="en-US" sz="2400">
                <a:solidFill>
                  <a:srgbClr val="FFFFFF"/>
                </a:solidFill>
                <a:latin typeface="Courier Prime"/>
                <a:ea typeface="Courier Prime"/>
                <a:cs typeface="Courier Prime"/>
                <a:sym typeface="Courier Prime"/>
              </a:rPr>
              <a:t> ofrecer una solución práctica, eficiente y profesional para la administración de contactos.</a:t>
            </a:r>
          </a:p>
          <a:p>
            <a:pPr algn="l">
              <a:lnSpc>
                <a:spcPts val="3264"/>
              </a:lnSpc>
            </a:pPr>
          </a:p>
        </p:txBody>
      </p:sp>
      <p:sp>
        <p:nvSpPr>
          <p:cNvPr name="TextBox 7" id="7"/>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10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571937"/>
            <a:ext cx="16327383" cy="5143125"/>
          </a:xfrm>
          <a:custGeom>
            <a:avLst/>
            <a:gdLst/>
            <a:ahLst/>
            <a:cxnLst/>
            <a:rect r="r" b="b" t="t" l="l"/>
            <a:pathLst>
              <a:path h="5143125" w="16327383">
                <a:moveTo>
                  <a:pt x="0" y="0"/>
                </a:moveTo>
                <a:lnTo>
                  <a:pt x="16327383" y="0"/>
                </a:lnTo>
                <a:lnTo>
                  <a:pt x="16327383" y="5143126"/>
                </a:lnTo>
                <a:lnTo>
                  <a:pt x="0" y="5143126"/>
                </a:lnTo>
                <a:lnTo>
                  <a:pt x="0" y="0"/>
                </a:lnTo>
                <a:close/>
              </a:path>
            </a:pathLst>
          </a:custGeom>
          <a:blipFill>
            <a:blip r:embed="rId2"/>
            <a:stretch>
              <a:fillRect l="0" t="0" r="0" b="0"/>
            </a:stretch>
          </a:blipFill>
        </p:spPr>
      </p:sp>
      <p:sp>
        <p:nvSpPr>
          <p:cNvPr name="TextBox 3" id="3"/>
          <p:cNvSpPr txBox="true"/>
          <p:nvPr/>
        </p:nvSpPr>
        <p:spPr>
          <a:xfrm rot="0">
            <a:off x="1028700" y="1047750"/>
            <a:ext cx="12968292"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Diagrama de Arquitectura de Alto Nivel {</a:t>
            </a:r>
          </a:p>
        </p:txBody>
      </p:sp>
      <p:sp>
        <p:nvSpPr>
          <p:cNvPr name="TextBox 4" id="4"/>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0232A"/>
        </a:solidFill>
      </p:bgPr>
    </p:bg>
    <p:spTree>
      <p:nvGrpSpPr>
        <p:cNvPr id="1" name=""/>
        <p:cNvGrpSpPr/>
        <p:nvPr/>
      </p:nvGrpSpPr>
      <p:grpSpPr>
        <a:xfrm>
          <a:off x="0" y="0"/>
          <a:ext cx="0" cy="0"/>
          <a:chOff x="0" y="0"/>
          <a:chExt cx="0" cy="0"/>
        </a:xfrm>
      </p:grpSpPr>
      <p:sp>
        <p:nvSpPr>
          <p:cNvPr name="Freeform 2" id="2"/>
          <p:cNvSpPr/>
          <p:nvPr/>
        </p:nvSpPr>
        <p:spPr>
          <a:xfrm flipH="false" flipV="false" rot="0">
            <a:off x="4119875" y="2697256"/>
            <a:ext cx="10048249" cy="4892488"/>
          </a:xfrm>
          <a:custGeom>
            <a:avLst/>
            <a:gdLst/>
            <a:ahLst/>
            <a:cxnLst/>
            <a:rect r="r" b="b" t="t" l="l"/>
            <a:pathLst>
              <a:path h="4892488" w="10048249">
                <a:moveTo>
                  <a:pt x="0" y="0"/>
                </a:moveTo>
                <a:lnTo>
                  <a:pt x="10048250" y="0"/>
                </a:lnTo>
                <a:lnTo>
                  <a:pt x="10048250" y="4892488"/>
                </a:lnTo>
                <a:lnTo>
                  <a:pt x="0" y="4892488"/>
                </a:lnTo>
                <a:lnTo>
                  <a:pt x="0" y="0"/>
                </a:lnTo>
                <a:close/>
              </a:path>
            </a:pathLst>
          </a:custGeom>
          <a:blipFill>
            <a:blip r:embed="rId2"/>
            <a:stretch>
              <a:fillRect l="0" t="0" r="0" b="0"/>
            </a:stretch>
          </a:blipFill>
        </p:spPr>
      </p:sp>
      <p:sp>
        <p:nvSpPr>
          <p:cNvPr name="TextBox 3" id="3"/>
          <p:cNvSpPr txBox="true"/>
          <p:nvPr/>
        </p:nvSpPr>
        <p:spPr>
          <a:xfrm rot="0">
            <a:off x="1028700" y="1047750"/>
            <a:ext cx="10721353"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 Diagrama de Base de Datos {</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20232A"/>
        </a:solidFill>
      </p:bgPr>
    </p:bg>
    <p:spTree>
      <p:nvGrpSpPr>
        <p:cNvPr id="1" name=""/>
        <p:cNvGrpSpPr/>
        <p:nvPr/>
      </p:nvGrpSpPr>
      <p:grpSpPr>
        <a:xfrm>
          <a:off x="0" y="0"/>
          <a:ext cx="0" cy="0"/>
          <a:chOff x="0" y="0"/>
          <a:chExt cx="0" cy="0"/>
        </a:xfrm>
      </p:grpSpPr>
      <p:sp>
        <p:nvSpPr>
          <p:cNvPr name="TextBox 2" id="2"/>
          <p:cNvSpPr txBox="true"/>
          <p:nvPr/>
        </p:nvSpPr>
        <p:spPr>
          <a:xfrm rot="0">
            <a:off x="1028700" y="1047750"/>
            <a:ext cx="10577589" cy="582930"/>
          </a:xfrm>
          <a:prstGeom prst="rect">
            <a:avLst/>
          </a:prstGeom>
        </p:spPr>
        <p:txBody>
          <a:bodyPr anchor="t" rtlCol="false" tIns="0" lIns="0" bIns="0" rIns="0">
            <a:spAutoFit/>
          </a:bodyPr>
          <a:lstStyle/>
          <a:p>
            <a:pPr algn="l">
              <a:lnSpc>
                <a:spcPts val="4559"/>
              </a:lnSpc>
            </a:pPr>
            <a:r>
              <a:rPr lang="en-US" sz="3999">
                <a:solidFill>
                  <a:srgbClr val="FFFFFF"/>
                </a:solidFill>
                <a:latin typeface="Courier Prime"/>
                <a:ea typeface="Courier Prime"/>
                <a:cs typeface="Courier Prime"/>
                <a:sym typeface="Courier Prime"/>
              </a:rPr>
              <a:t>URL apuntando al Repositorio {</a:t>
            </a:r>
          </a:p>
        </p:txBody>
      </p:sp>
      <p:sp>
        <p:nvSpPr>
          <p:cNvPr name="TextBox 3" id="3"/>
          <p:cNvSpPr txBox="true"/>
          <p:nvPr/>
        </p:nvSpPr>
        <p:spPr>
          <a:xfrm rot="0">
            <a:off x="16557135" y="8675370"/>
            <a:ext cx="702165" cy="582930"/>
          </a:xfrm>
          <a:prstGeom prst="rect">
            <a:avLst/>
          </a:prstGeom>
        </p:spPr>
        <p:txBody>
          <a:bodyPr anchor="t" rtlCol="false" tIns="0" lIns="0" bIns="0" rIns="0">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20232A"/>
        </a:solidFill>
      </p:bgPr>
    </p:bg>
    <p:spTree>
      <p:nvGrpSpPr>
        <p:cNvPr id="1" name=""/>
        <p:cNvGrpSpPr/>
        <p:nvPr/>
      </p:nvGrpSpPr>
      <p:grpSpPr>
        <a:xfrm>
          <a:off x="0" y="0"/>
          <a:ext cx="0" cy="0"/>
          <a:chOff x="0" y="0"/>
          <a:chExt cx="0" cy="0"/>
        </a:xfrm>
      </p:grpSpPr>
      <p:sp>
        <p:nvSpPr>
          <p:cNvPr name="AutoShape 2" id="2"/>
          <p:cNvSpPr/>
          <p:nvPr/>
        </p:nvSpPr>
        <p:spPr>
          <a:xfrm rot="5400000">
            <a:off x="-2839732" y="3931089"/>
            <a:ext cx="8741551" cy="0"/>
          </a:xfrm>
          <a:prstGeom prst="line">
            <a:avLst/>
          </a:prstGeom>
          <a:ln cap="flat" w="95250">
            <a:solidFill>
              <a:srgbClr val="2D2D35"/>
            </a:solidFill>
            <a:prstDash val="solid"/>
            <a:headEnd type="none" len="sm" w="sm"/>
            <a:tailEnd type="none" len="sm" w="sm"/>
          </a:ln>
        </p:spPr>
      </p:sp>
      <p:sp>
        <p:nvSpPr>
          <p:cNvPr name="TextBox 3" id="3"/>
          <p:cNvSpPr txBox="true"/>
          <p:nvPr/>
        </p:nvSpPr>
        <p:spPr>
          <a:xfrm rot="0">
            <a:off x="2537186" y="3245316"/>
            <a:ext cx="10718760" cy="1324177"/>
          </a:xfrm>
          <a:prstGeom prst="rect">
            <a:avLst/>
          </a:prstGeom>
        </p:spPr>
        <p:txBody>
          <a:bodyPr anchor="t" rtlCol="false" tIns="0" lIns="0" bIns="0" rIns="0">
            <a:spAutoFit/>
          </a:bodyPr>
          <a:lstStyle/>
          <a:p>
            <a:pPr algn="l">
              <a:lnSpc>
                <a:spcPts val="10397"/>
              </a:lnSpc>
            </a:pPr>
            <a:r>
              <a:rPr lang="en-US" sz="9120">
                <a:solidFill>
                  <a:srgbClr val="FFFFFF"/>
                </a:solidFill>
                <a:latin typeface="Courier Prime"/>
                <a:ea typeface="Courier Prime"/>
                <a:cs typeface="Courier Prime"/>
                <a:sym typeface="Courier Prime"/>
              </a:rPr>
              <a:t>Gracias {</a:t>
            </a:r>
          </a:p>
        </p:txBody>
      </p:sp>
      <p:sp>
        <p:nvSpPr>
          <p:cNvPr name="TextBox 4" id="4"/>
          <p:cNvSpPr txBox="true"/>
          <p:nvPr/>
        </p:nvSpPr>
        <p:spPr>
          <a:xfrm rot="0">
            <a:off x="2415791" y="6536903"/>
            <a:ext cx="2471972" cy="1607392"/>
          </a:xfrm>
          <a:prstGeom prst="rect">
            <a:avLst/>
          </a:prstGeom>
        </p:spPr>
        <p:txBody>
          <a:bodyPr anchor="t" rtlCol="false" tIns="0" lIns="0" bIns="0" rIns="0">
            <a:spAutoFit/>
          </a:bodyPr>
          <a:lstStyle/>
          <a:p>
            <a:pPr algn="l">
              <a:lnSpc>
                <a:spcPts val="12477"/>
              </a:lnSpc>
            </a:pPr>
            <a:r>
              <a:rPr lang="en-US" sz="10944">
                <a:solidFill>
                  <a:srgbClr val="FFFFFF"/>
                </a:solidFill>
                <a:latin typeface="Courier Prime"/>
                <a:ea typeface="Courier Prime"/>
                <a:cs typeface="Courier Prime"/>
                <a:sym typeface="Courier Prime"/>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DAG516UDV9U</dc:identifier>
  <dcterms:modified xsi:type="dcterms:W3CDTF">2011-08-01T06:04:30Z</dcterms:modified>
  <cp:revision>1</cp:revision>
  <dc:title>Proyecto2 - WEB API CALCULADORA</dc:title>
</cp:coreProperties>
</file>